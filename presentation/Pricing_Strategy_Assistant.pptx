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2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B2B"/>
                </a:solidFill>
                <a:latin typeface="Arial"/>
              </a:rPr>
              <a:t>Revenue by Plan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(Rs)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Basic</c:v>
                  </c:pt>
                  <c:pt idx="1">
                    <c:v>Standard</c:v>
                  </c:pt>
                  <c:pt idx="2">
                    <c:v>Pro</c:v>
                  </c:pt>
                  <c:pt idx="3">
                    <c:v>Premium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130065</c:v>
                </c:pt>
                <c:pt idx="1">
                  <c:v>320465</c:v>
                </c:pt>
                <c:pt idx="2">
                  <c:v>432567</c:v>
                </c:pt>
                <c:pt idx="3">
                  <c:v>295303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F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2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B2B"/>
                </a:solidFill>
                <a:latin typeface="Arial"/>
              </a:rPr>
              <a:t>Renewal Rate by Segment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Renewal Rate (%)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Casual
Learner</c:v>
                  </c:pt>
                  <c:pt idx="1">
                    <c:v>College
Student</c:v>
                  </c:pt>
                  <c:pt idx="2">
                    <c:v>Working
Prof.</c:v>
                  </c:pt>
                  <c:pt idx="3">
                    <c:v>Career
Switcher</c:v>
                  </c:pt>
                  <c:pt idx="4">
                    <c:v>Cert.
Seeker</c:v>
                  </c:pt>
                  <c:pt idx="5">
                    <c:v>Power
Learner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19.6</c:v>
                </c:pt>
                <c:pt idx="1">
                  <c:v>62.7</c:v>
                </c:pt>
                <c:pt idx="2">
                  <c:v>74.4</c:v>
                </c:pt>
                <c:pt idx="3">
                  <c:v>74.5</c:v>
                </c:pt>
                <c:pt idx="4">
                  <c:v>78.8</c:v>
                </c:pt>
                <c:pt idx="5">
                  <c:v>86.7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F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PRICING STRATEGY ASSISTANT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7589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EdTech platform is losing revenue to inconsistent pricing decisions: learners on the wrong plan, discounts handed out without a strategy, and no systematic way to flag who is about to churn versus who is ready to upgrade.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02336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025E6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251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466344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flags at-risk learners before they churn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402336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025E6B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4251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17720" y="466344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rates vary 4x across segments with no clear reason why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402336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025E6B"/>
          </a:solidFill>
          <a:ln/>
        </p:spPr>
      </p:sp>
      <p:sp>
        <p:nvSpPr>
          <p:cNvPr id="12" name="Text 10"/>
          <p:cNvSpPr/>
          <p:nvPr/>
        </p:nvSpPr>
        <p:spPr>
          <a:xfrm>
            <a:off x="8366760" y="4251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66760" y="466344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are reactive, not tied to actual learner behavior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transparent, rule-based pricing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must be explainable in one sentence to a non-technical stakeholder — no black boxes, no ML predictions no one can audit.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953512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at risk of churn, and learners ready to upgrade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26060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2953512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plan, discount, or action per learner — via SQL rules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4553712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each recommendation into a natural message via Gemini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42062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4553712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with real product metrics — MRR, renewal, conversion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406640" y="1371600"/>
            <a:ext cx="4206240" cy="4663440"/>
          </a:xfrm>
          <a:prstGeom prst="roundRect">
            <a:avLst>
              <a:gd name="adj" fmla="val 1739"/>
            </a:avLst>
          </a:prstGeom>
          <a:solidFill>
            <a:srgbClr val="F5F7F7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6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NOT used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80960" y="20574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/ deep learning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or classification models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vector databases, LangChain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or Power BI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80960" y="49377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for a new product with no historical A/B data, every SQL rule can be justified individually in a business review — a trained model can't.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1,600 simulated learners, 12 months of history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records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554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01752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plans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1554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segments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0" y="1554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95528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10972800" cy="0"/>
          </a:xfrm>
          <a:prstGeom prst="line">
            <a:avLst/>
          </a:prstGeom>
          <a:noFill/>
          <a:ln w="12700">
            <a:solidFill>
              <a:srgbClr val="DD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71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Plans (monthly)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3383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299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76732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94560" y="37673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599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15137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94560" y="415137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999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53542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94560" y="453542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1,499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2971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Segments (renewal rate)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06240" y="3383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Learner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83680" y="3383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86.7%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206240" y="37673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Cert. Seeker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83680" y="37673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78.8%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206240" y="415137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Switcher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83680" y="41513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74.5%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206240" y="45354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Prof.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83680" y="453542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74.4%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206240" y="49194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Student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83680" y="491947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62.7%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206240" y="5303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Learner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583680" y="5303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6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19.6%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138160" y="297180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F5F7F7"/>
          </a:solidFill>
          <a:ln/>
        </p:spPr>
      </p:sp>
      <p:sp>
        <p:nvSpPr>
          <p:cNvPr id="36" name="Text 34"/>
          <p:cNvSpPr/>
          <p:nvPr/>
        </p:nvSpPr>
        <p:spPr>
          <a:xfrm>
            <a:off x="8366760" y="31546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intent, not randomness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366760" y="374904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Engagement, completion, and renewal are correlated by segment on purpose — Power Learners complete 88% of courses vs 27% for Casual Learners. This is what lets the SQL analysis surface a coherent story instead of noise.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queries, every insight verified against real output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41732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5F7F7"/>
          </a:solidFill>
          <a:ln/>
        </p:spPr>
      </p:sp>
      <p:sp>
        <p:nvSpPr>
          <p:cNvPr id="6" name="Text 3"/>
          <p:cNvSpPr/>
          <p:nvPr/>
        </p:nvSpPr>
        <p:spPr>
          <a:xfrm>
            <a:off x="6492240" y="1508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beats Standard on revenue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92240" y="18288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4.3L vs Rs 3.2L, despite fewer subscribers — price point beats volume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256032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5F7F7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0" y="2651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users complete less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2240" y="29718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vs 66% completion for full-price learners — a real pricing trade-off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5F7F7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3794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tickets track disengagement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92240" y="41148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 tickets avg at &lt;40% completion, down to 0.5 at 70%+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says about each segment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71323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417320"/>
            <a:ext cx="3749040" cy="3840480"/>
          </a:xfrm>
          <a:prstGeom prst="roundRect">
            <a:avLst>
              <a:gd name="adj" fmla="val 1951"/>
            </a:avLst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818388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3x gap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83880" y="21488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Learners renew at 86.7% vs 19.6% for Casual Learners — a gap that dwarfs the ~17-point spread between Premium and Basic plan renewal rates.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183880" y="36576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CD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predicts renewal far better than plan tier does. Pricing alone won't fix a Casual Learner's churn risk — the recommendation engine treats these differently.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business rules, 14 pricing parameters, zero ML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(target: 20+)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4173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parameters (target: 10+)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0" y="14173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6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85216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used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10972800" cy="0"/>
          </a:xfrm>
          <a:prstGeom prst="line">
            <a:avLst/>
          </a:prstGeom>
          <a:noFill/>
          <a:ln w="12700">
            <a:solidFill>
              <a:srgbClr val="DD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Priority-ordered logic (excerpt)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46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2186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 ≥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251960" y="3218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CS outreach BEFORE any upsell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03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6758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60+ days &amp; not renewed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51960" y="36758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High churn risk, 20% win-back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60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41330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Learner, 80%+ completion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251960" y="41330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Recommend Premium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617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5902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Basic/Standard, high completion &amp; hours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251960" y="4590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Recommend upgrade to Pro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074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50474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Student, 70%+ completion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251960" y="50474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Student discount (15%)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909560" y="2834640"/>
            <a:ext cx="3749040" cy="3383280"/>
          </a:xfrm>
          <a:prstGeom prst="roundRect">
            <a:avLst>
              <a:gd name="adj" fmla="val 2162"/>
            </a:avLst>
          </a:prstGeom>
          <a:solidFill>
            <a:srgbClr val="F5F7F7"/>
          </a:solidFill>
          <a:ln/>
        </p:spPr>
      </p:sp>
      <p:sp>
        <p:nvSpPr>
          <p:cNvPr id="33" name="Text 31"/>
          <p:cNvSpPr/>
          <p:nvPr/>
        </p:nvSpPr>
        <p:spPr>
          <a:xfrm>
            <a:off x="813816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priority order matters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38160" y="352044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and churn-risk rules are checked first, so a struggling learner is never pitched an upgrade before their support issue is resolved. This ordering is itself a product decision, not just SQL syntax.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explains the decision. It never makes it.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24393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OUTPUT (the decision)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D6E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Plan: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6E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
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D6E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6E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Upgrade to Pro
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D6E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6E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"82% completion, 7.4 hrs/week"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611880"/>
            <a:ext cx="4663440" cy="1691640"/>
          </a:xfrm>
          <a:prstGeom prst="roundRect">
            <a:avLst>
              <a:gd name="adj" fmla="val 3243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794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OUTPUT (the phrasing)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411480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“You're putting in real effort — 82% course completion and multiple hours a week. Pro would unlock more advanced content that matches how seriously you're taking this.”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3640" y="1783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guardrails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63640" y="228600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D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decides plan, discount, and action — always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D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is instructed NOT to alter the recommendation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D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capped at 60 words, second person, no mention of automation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D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failed API call never breaks the batch (per-row error handling)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Formula-driven Excel, zero recalculation errors</a:t>
            </a:r>
            <a:endParaRPr lang="en-US" sz="3200" dirty="0"/>
          </a:p>
        </p:txBody>
      </p:sp>
      <p:pic>
        <p:nvPicPr>
          <p:cNvPr id="4" name="Image 0" descr="../Images/charts/revenue_by_seg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394960" cy="3611880"/>
          </a:xfrm>
          <a:prstGeom prst="rect">
            <a:avLst/>
          </a:prstGeom>
        </p:spPr>
      </p:pic>
      <p:pic>
        <p:nvPicPr>
          <p:cNvPr id="5" name="Image 1" descr="../Images/charts/subscription_distrib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17320"/>
            <a:ext cx="5440680" cy="36118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5F7F7"/>
          </a:solidFill>
          <a:ln/>
        </p:spPr>
      </p:sp>
      <p:sp>
        <p:nvSpPr>
          <p:cNvPr id="7" name="Text 3"/>
          <p:cNvSpPr/>
          <p:nvPr/>
        </p:nvSpPr>
        <p:spPr>
          <a:xfrm>
            <a:off x="822960" y="5440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1,630 </a:t>
            </a:r>
            <a:pPr indent="0" marL="0">
              <a:buNone/>
            </a:pPr>
            <a:r>
              <a:rPr lang="en-US" sz="130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across the workbook  •  </a:t>
            </a:r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</a:t>
            </a:r>
            <a:pPr indent="0" marL="0">
              <a:buNone/>
            </a:pPr>
            <a:r>
              <a:rPr lang="en-US" sz="130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recalculation errors  •  All charts sourced from </a:t>
            </a:r>
            <a:pPr indent="0" marL="0">
              <a:buNone/>
            </a:pPr>
            <a:r>
              <a:rPr lang="en-US" sz="1300" b="1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SUMIF / AVERAGEIF / COUNTIFS</a:t>
            </a:r>
            <a:pPr indent="0" marL="0">
              <a:buNone/>
            </a:pPr>
            <a:r>
              <a:rPr lang="en-US" sz="1300" dirty="0">
                <a:solidFill>
                  <a:srgbClr val="1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hardcoded values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a PM would report to leadership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11.78L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 Revenue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50876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7373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736.50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0" y="2468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50876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17373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64.7%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321040" y="2468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Rate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5F7F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118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34.3%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22960" y="4343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Redemption Rate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338328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5F7F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36118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58.8%*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72000" y="4343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338328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5F7F7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36118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29.9%*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321040" y="4343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440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Conversion and Upgrade Rate use explicitly-labeled proxy definitions, since this dataset is a snapshot, not a before/after funnel log. Documented in product_metrics.sql.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pricing system every stakeholder can audit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025E6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57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traces to a named SQL rule, not a model weight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025E6B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2057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26280" y="246888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this deck was run against the live dataset, not estimated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025E6B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2057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Extensible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75320" y="246888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rules or parameters can be added without retraining anything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build next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event-level data to measure true conversion, not a snapshot proxy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the SQL engine's discount offers against a control group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do Gemini-personalized messages outperform raw SQL text?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2026-07-27T11:43:13Z</dcterms:created>
  <dcterms:modified xsi:type="dcterms:W3CDTF">2026-07-27T11:43:13Z</dcterms:modified>
</cp:coreProperties>
</file>